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4" r:id="rId7"/>
    <p:sldId id="260" r:id="rId8"/>
    <p:sldId id="259" r:id="rId9"/>
    <p:sldId id="265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53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Pitch 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Milliy AI Xakaton · Buxoro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5303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ImkonAI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017520" y="2240280"/>
            <a:ext cx="530352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5303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Nogironligi bo'lgan insonlar uchun sun'iy intellekt asosidagi uyda ta'lim, kasbga tayyorlash va bandlik platformasi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53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473659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</a:t>
            </a:r>
            <a:r>
              <a:rPr lang="en-US" sz="900" dirty="0" err="1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MilliyAIXakaton</a:t>
            </a:r>
            <a:r>
              <a:rPr lang="en-US" sz="900" dirty="0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#</a:t>
            </a:r>
            <a:r>
              <a:rPr lang="en-US" sz="900" dirty="0" err="1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BukharaAI</a:t>
            </a:r>
            <a:r>
              <a:rPr lang="en-US" sz="900" dirty="0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2026</a:t>
            </a:r>
            <a:endParaRPr lang="en-US" sz="900" dirty="0"/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1280160" cy="12801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14400" y="3337560"/>
            <a:ext cx="1243584" cy="457200"/>
          </a:xfrm>
          <a:prstGeom prst="roundRect">
            <a:avLst>
              <a:gd name="adj" fmla="val 18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1243584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Mablag'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57984" y="3337560"/>
            <a:ext cx="237744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5534B"/>
                </a:solidFill>
                <a:latin typeface="Calibri" panose="020F0502020204030204"/>
              </a:rPr>
              <a:t>→</a:t>
            </a:r>
            <a:endParaRPr sz="1400" b="1" i="0">
              <a:solidFill>
                <a:srgbClr val="E5534B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95728" y="3337560"/>
            <a:ext cx="1243584" cy="457200"/>
          </a:xfrm>
          <a:prstGeom prst="roundRect">
            <a:avLst>
              <a:gd name="adj" fmla="val 18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5728" y="3337560"/>
            <a:ext cx="1243584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Ta'lim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39312" y="3337560"/>
            <a:ext cx="237744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5534B"/>
                </a:solidFill>
                <a:latin typeface="Calibri" panose="020F0502020204030204"/>
              </a:rPr>
              <a:t>→</a:t>
            </a:r>
            <a:endParaRPr sz="1400" b="1" i="0">
              <a:solidFill>
                <a:srgbClr val="E5534B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877056" y="3337560"/>
            <a:ext cx="1243584" cy="457200"/>
          </a:xfrm>
          <a:prstGeom prst="roundRect">
            <a:avLst>
              <a:gd name="adj" fmla="val 18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77056" y="3337560"/>
            <a:ext cx="1243584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Kasb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20640" y="3337560"/>
            <a:ext cx="237744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5534B"/>
                </a:solidFill>
                <a:latin typeface="Calibri" panose="020F0502020204030204"/>
              </a:rPr>
              <a:t>→</a:t>
            </a:r>
            <a:endParaRPr sz="1400" b="1" i="0">
              <a:solidFill>
                <a:srgbClr val="E5534B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358384" y="3337560"/>
            <a:ext cx="1243584" cy="457200"/>
          </a:xfrm>
          <a:prstGeom prst="roundRect">
            <a:avLst>
              <a:gd name="adj" fmla="val 18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58384" y="3337560"/>
            <a:ext cx="1243584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Bandlik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01968" y="3337560"/>
            <a:ext cx="237744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5534B"/>
                </a:solidFill>
                <a:latin typeface="Calibri" panose="020F0502020204030204"/>
              </a:rPr>
              <a:t>→</a:t>
            </a:r>
            <a:endParaRPr sz="1400" b="1" i="0">
              <a:solidFill>
                <a:srgbClr val="E5534B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839712" y="3337560"/>
            <a:ext cx="1243584" cy="457200"/>
          </a:xfrm>
          <a:prstGeom prst="roundRect">
            <a:avLst>
              <a:gd name="adj" fmla="val 18000"/>
            </a:avLst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3337560"/>
            <a:ext cx="1243584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Mustaqillik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Biz kimiz?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4114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Milliy AI Xakaton 2026 · Buxoro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92608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9260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66160" y="1234440"/>
            <a:ext cx="530352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6160" y="1234440"/>
            <a:ext cx="54864" cy="320040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1417320"/>
            <a:ext cx="4937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Loyiha haqida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1920240"/>
            <a:ext cx="4937760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91640"/>
            <a:ext cx="1371600" cy="137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3246120"/>
            <a:ext cx="27432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 panose="020F0502020204030204"/>
              </a:rPr>
              <a:t>ImkonAI</a:t>
            </a:r>
            <a:endParaRPr sz="2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49039" y="2057400"/>
            <a:ext cx="4983480" cy="2240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ImkonAI — nogironligi bo'lgan insonlarni ta'lim orqali kasb va bandlikka olib chiqishni maqsad qilgan jamoa va platforma.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E5534B"/>
                </a:solidFill>
                <a:latin typeface="Calibri" panose="020F0502020204030204"/>
              </a:rPr>
              <a:t>Kim uchun:  </a:t>
            </a:r>
            <a:r>
              <a:rPr sz="1400" b="0" i="0">
                <a:solidFill>
                  <a:srgbClr val="D1D5DB"/>
                </a:solidFill>
                <a:latin typeface="Calibri" panose="020F0502020204030204"/>
              </a:rPr>
              <a:t>nogironligi bo'lgan, ayniqsa harakati cheklangan insonlar va ularning oilalari</a:t>
            </a:r>
            <a:endParaRPr sz="1400" b="0" i="0">
              <a:solidFill>
                <a:srgbClr val="D1D5DB"/>
              </a:solidFill>
              <a:latin typeface="Calibri" panose="020F0502020204030204"/>
            </a:endParaRP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E5534B"/>
                </a:solidFill>
                <a:latin typeface="Calibri" panose="020F0502020204030204"/>
              </a:rPr>
              <a:t>Maqsad:  </a:t>
            </a:r>
            <a:r>
              <a:rPr sz="1400" b="0" i="0">
                <a:solidFill>
                  <a:srgbClr val="D1D5DB"/>
                </a:solidFill>
                <a:latin typeface="Calibri" panose="020F0502020204030204"/>
              </a:rPr>
              <a:t>insonni ijtimoiy yordam oluvchidan iqtisodiy faol ishtirokchiga aylantirish</a:t>
            </a:r>
            <a:endParaRPr sz="1400" b="0" i="0">
              <a:solidFill>
                <a:srgbClr val="D1D5D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Muammo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Nogironligi bo'lgan insonlar ta'lim va kasb olishda 7 ta asosiy to'siqqa duch keladi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solidFill>
            <a:srgbClr val="E5534B">
              <a:alpha val="85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 bizga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ehtiyoj bor?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691640" y="3182112"/>
            <a:ext cx="7315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840480" y="1207008"/>
            <a:ext cx="50292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1207008"/>
            <a:ext cx="54864" cy="1783080"/>
          </a:xfrm>
          <a:prstGeom prst="rect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05072" y="1335024"/>
            <a:ext cx="329184" cy="3291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5072" y="1335024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34840" y="1316736"/>
            <a:ext cx="42976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Ta'limga kirish to'siqlari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5072" y="1737360"/>
            <a:ext cx="4754880" cy="12161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Ta'limdagi tengsizlik</a:t>
            </a:r>
            <a:r>
              <a:rPr sz="1050" b="0" i="0">
                <a:solidFill>
                  <a:srgbClr val="9CA3AF"/>
                </a:solidFill>
                <a:latin typeface="Calibri" panose="020F0502020204030204"/>
              </a:rPr>
              <a:t> — sog'lom tengdoshlar bilan teng sharoit yo'q</a:t>
            </a:r>
            <a:endParaRPr sz="1050" b="0" i="0">
              <a:solidFill>
                <a:srgbClr val="9CA3AF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Harakat cheklovi</a:t>
            </a:r>
            <a:r>
              <a:rPr sz="1050" b="0" i="0">
                <a:solidFill>
                  <a:srgbClr val="9CA3AF"/>
                </a:solidFill>
                <a:latin typeface="Calibri" panose="020F0502020204030204"/>
              </a:rPr>
              <a:t> — o'quv muassasasiga borish qiyin yoki imkonsiz</a:t>
            </a:r>
            <a:endParaRPr sz="1050" b="0" i="0">
              <a:solidFill>
                <a:srgbClr val="9CA3AF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Individual ta'lim yo'q</a:t>
            </a:r>
            <a:r>
              <a:rPr sz="1050" b="0" i="0">
                <a:solidFill>
                  <a:srgbClr val="9CA3AF"/>
                </a:solidFill>
                <a:latin typeface="Calibri" panose="020F0502020204030204"/>
              </a:rPr>
              <a:t> — har kimning ehtiyojiga mos darslar mavjud emas</a:t>
            </a:r>
            <a:endParaRPr sz="1050" b="0" i="0">
              <a:solidFill>
                <a:srgbClr val="9CA3AF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Mutaxassis tanqisligi</a:t>
            </a:r>
            <a:r>
              <a:rPr sz="1050" b="0" i="0">
                <a:solidFill>
                  <a:srgbClr val="9CA3AF"/>
                </a:solidFill>
                <a:latin typeface="Calibri" panose="020F0502020204030204"/>
              </a:rPr>
              <a:t> — uyga individual o'qituvchi biriktirish cheklangan</a:t>
            </a:r>
            <a:endParaRPr sz="105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40480" y="3108960"/>
            <a:ext cx="5029200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0" y="3108960"/>
            <a:ext cx="54864" cy="1298448"/>
          </a:xfrm>
          <a:prstGeom prst="rect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05072" y="3236976"/>
            <a:ext cx="329184" cy="3291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5072" y="3236976"/>
            <a:ext cx="329184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34840" y="3218688"/>
            <a:ext cx="42976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Iqtisodiy va ijtimoiy yuk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05072" y="3639312"/>
            <a:ext cx="4754880" cy="7315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Moliyaviy yuk</a:t>
            </a:r>
            <a:r>
              <a:rPr sz="1050" b="0" i="0">
                <a:solidFill>
                  <a:srgbClr val="9CA3AF"/>
                </a:solidFill>
                <a:latin typeface="Calibri" panose="020F0502020204030204"/>
              </a:rPr>
              <a:t> — maxsus ta'lim va o'qituvchi xizmatlari qimmat</a:t>
            </a:r>
            <a:endParaRPr sz="1050" b="0" i="0">
              <a:solidFill>
                <a:srgbClr val="9CA3AF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Ortiqcha vaqt sarfi</a:t>
            </a:r>
            <a:r>
              <a:rPr sz="1050" b="0" i="0">
                <a:solidFill>
                  <a:srgbClr val="9CA3AF"/>
                </a:solidFill>
                <a:latin typeface="Calibri" panose="020F0502020204030204"/>
              </a:rPr>
              <a:t> — uzoq darslar va yo'l masofasi qo'shimcha yuk</a:t>
            </a:r>
            <a:endParaRPr sz="1050" b="0" i="0">
              <a:solidFill>
                <a:srgbClr val="9CA3AF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 panose="020F0502020204030204"/>
              </a:rPr>
              <a:t>Tabaqalanish</a:t>
            </a:r>
            <a:r>
              <a:rPr sz="1050" b="0" i="0">
                <a:solidFill>
                  <a:srgbClr val="9CA3AF"/>
                </a:solidFill>
                <a:latin typeface="Calibri" panose="020F0502020204030204"/>
              </a:rPr>
              <a:t> — ta'lim va jamiyatga integratsiyada to'siqlar</a:t>
            </a:r>
            <a:endParaRPr sz="1050" b="0" i="0">
              <a:solidFill>
                <a:srgbClr val="9CA3A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Yechim — ImkonAI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Ta'limdan bandlikkacha — 4 ta asosiy yo'nalish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413766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413766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91056"/>
            <a:ext cx="548640" cy="5486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91056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B82F6"/>
                </a:solidFill>
                <a:latin typeface="Calibri" panose="020F0502020204030204"/>
              </a:rPr>
              <a:t>01</a:t>
            </a:r>
            <a:endParaRPr sz="1500" b="1" i="0">
              <a:solidFill>
                <a:srgbClr val="3B82F6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1527048"/>
            <a:ext cx="29946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Qulay ta'lim uyda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320" y="1956816"/>
            <a:ext cx="29946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CA3AF"/>
                </a:solidFill>
                <a:latin typeface="Calibri" panose="020F0502020204030204"/>
              </a:rPr>
              <a:t>Ovozli va yozma boshqaruv — harakati cheklangan inson uydan chiqmasdan o'qiydi</a:t>
            </a:r>
            <a:endParaRPr sz="115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32020" y="1207008"/>
            <a:ext cx="413766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2020" y="1207008"/>
            <a:ext cx="413766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60620" y="1591056"/>
            <a:ext cx="548640" cy="5486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0620" y="1591056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B82F6"/>
                </a:solidFill>
                <a:latin typeface="Calibri" panose="020F0502020204030204"/>
              </a:rPr>
              <a:t>02</a:t>
            </a:r>
            <a:endParaRPr sz="1500" b="1" i="0">
              <a:solidFill>
                <a:srgbClr val="3B82F6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92140" y="1527048"/>
            <a:ext cx="29946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Individual interaktiv darslar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92140" y="1956816"/>
            <a:ext cx="29946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CA3AF"/>
                </a:solidFill>
                <a:latin typeface="Calibri" panose="020F0502020204030204"/>
              </a:rPr>
              <a:t>Har bir foydalanuvchining imkoniyatiga mos, vizual va tushunarli ta'lim</a:t>
            </a:r>
            <a:endParaRPr sz="115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2880360"/>
            <a:ext cx="413766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880360"/>
            <a:ext cx="4137660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3264408"/>
            <a:ext cx="548640" cy="5486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64408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C55E"/>
                </a:solidFill>
                <a:latin typeface="Calibri" panose="020F0502020204030204"/>
              </a:rPr>
              <a:t>03</a:t>
            </a:r>
            <a:endParaRPr sz="1500" b="1" i="0">
              <a:solidFill>
                <a:srgbClr val="22C55E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7320" y="3200400"/>
            <a:ext cx="29946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Kasb va bandlik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3630168"/>
            <a:ext cx="29946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CA3AF"/>
                </a:solidFill>
                <a:latin typeface="Calibri" panose="020F0502020204030204"/>
              </a:rPr>
              <a:t>Imkoniyat va qiziqishga mos kasbni aniqlash, ish topish va daromad olish</a:t>
            </a:r>
            <a:endParaRPr sz="115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32020" y="2880360"/>
            <a:ext cx="413766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32020" y="2880360"/>
            <a:ext cx="4137660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60620" y="3264408"/>
            <a:ext cx="548640" cy="5486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0620" y="3264408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C55E"/>
                </a:solidFill>
                <a:latin typeface="Calibri" panose="020F0502020204030204"/>
              </a:rPr>
              <a:t>04</a:t>
            </a:r>
            <a:endParaRPr sz="1500" b="1" i="0">
              <a:solidFill>
                <a:srgbClr val="22C55E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92140" y="3200400"/>
            <a:ext cx="299466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Mustaqil hayot va tejamkorlik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92140" y="3630168"/>
            <a:ext cx="29946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CA3AF"/>
                </a:solidFill>
                <a:latin typeface="Calibri" panose="020F0502020204030204"/>
              </a:rPr>
              <a:t>Ijtimoiy-iqtisodiy faollikka qaytish; oila va davlat vaqti va mablag'i tejaladi</a:t>
            </a:r>
            <a:endParaRPr sz="1150" b="0" i="0">
              <a:solidFill>
                <a:srgbClr val="9CA3A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Raqobatchilar tahlili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ImkonAI mavjud yechimlardan nimasi bilan farq qiladi?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Xususiyat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solidFill>
            <a:srgbClr val="E5534B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ImkonAI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An'anaviy uy ta'limi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Umumiy onlayn kurslar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Ovozli va yozma boshqaruv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Imkoniyatga mos individual dars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➖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Kasbga yo'naltirish va bandlik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➖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346704"/>
            <a:ext cx="228600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3346704"/>
            <a:ext cx="22860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Keng qamrov, mutaxassis tanqisligisiz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0" y="3346704"/>
            <a:ext cx="210312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0" y="3346704"/>
            <a:ext cx="21031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46320" y="3346704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46320" y="3346704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➖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58000" y="3346704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0" y="3346704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3886200"/>
            <a:ext cx="8412480" cy="658368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7200" y="3886200"/>
            <a:ext cx="84124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7200" y="3886200"/>
            <a:ext cx="8412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Nima uchun biz? — ta'limni kasb va bandlikka ulaydigan inklyuziv AI platforma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Davlat uchun iqtisodiy samaradorlik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Ijtimoiy xarajatlar tejaladi, ishga joylashganlardan esa qo'shimcha soliq tushadi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926080" cy="3200400"/>
          </a:xfrm>
          <a:prstGeom prst="rect">
            <a:avLst/>
          </a:prstGeom>
          <a:solidFill>
            <a:srgbClr val="1A10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9260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≈579 mlrd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so'm</a:t>
            </a:r>
            <a:endParaRPr lang="en-US" sz="2200" dirty="0"/>
          </a:p>
        </p:txBody>
      </p:sp>
      <p:sp>
        <p:nvSpPr>
          <p:cNvPr id="27" name="TextBox 26"/>
          <p:cNvSpPr txBox="1"/>
          <p:nvPr/>
        </p:nvSpPr>
        <p:spPr>
          <a:xfrm>
            <a:off x="640080" y="3154680"/>
            <a:ext cx="25603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D1D5DB"/>
                </a:solidFill>
                <a:latin typeface="Calibri" panose="020F0502020204030204"/>
              </a:rPr>
              <a:t>potensial fiskal ta'sir — ijtimoiy xarajatlar samaradorligi atigi 10% oshsa</a:t>
            </a:r>
            <a:endParaRPr sz="1100" b="0" i="0">
              <a:solidFill>
                <a:srgbClr val="D1D5DB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566160" y="1207008"/>
            <a:ext cx="169468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66160" y="1207008"/>
            <a:ext cx="1694688" cy="36576"/>
          </a:xfrm>
          <a:prstGeom prst="rect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1298448"/>
            <a:ext cx="1511808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5534B"/>
                </a:solidFill>
                <a:latin typeface="Calibri" panose="020F0502020204030204"/>
              </a:rPr>
              <a:t>5,786 trln</a:t>
            </a:r>
            <a:r>
              <a:rPr sz="900" b="0" i="0">
                <a:solidFill>
                  <a:srgbClr val="9CA3AF"/>
                </a:solidFill>
                <a:latin typeface="Calibri" panose="020F0502020204030204"/>
              </a:rPr>
              <a:t> so'm</a:t>
            </a:r>
            <a:endParaRPr sz="90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57600" y="1691640"/>
            <a:ext cx="1511808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Calibri" panose="020F0502020204030204"/>
              </a:rPr>
              <a:t>Ijtimoiy himoya dasturi, 2026 (prognoz)</a:t>
            </a:r>
            <a:endParaRPr sz="90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370576" y="1207008"/>
            <a:ext cx="169468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70576" y="1207008"/>
            <a:ext cx="1694688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62015" y="1298448"/>
            <a:ext cx="1511808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Calibri" panose="020F0502020204030204"/>
              </a:rPr>
              <a:t>483,6 ming</a:t>
            </a:r>
            <a:endParaRPr sz="90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62015" y="1691640"/>
            <a:ext cx="1511808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Calibri" panose="020F0502020204030204"/>
              </a:rPr>
              <a:t>Nogironlik pensiyasi oluvchilar</a:t>
            </a:r>
            <a:endParaRPr sz="90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174991" y="1207008"/>
            <a:ext cx="169468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74991" y="1207008"/>
            <a:ext cx="1694688" cy="3657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6431" y="1298448"/>
            <a:ext cx="1511808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2C55E"/>
                </a:solidFill>
                <a:latin typeface="Calibri" panose="020F0502020204030204"/>
              </a:rPr>
              <a:t>≈6,08 trln</a:t>
            </a:r>
            <a:r>
              <a:rPr sz="900" b="0" i="0">
                <a:solidFill>
                  <a:srgbClr val="9CA3AF"/>
                </a:solidFill>
                <a:latin typeface="Calibri" panose="020F0502020204030204"/>
              </a:rPr>
              <a:t> so'm</a:t>
            </a:r>
            <a:endParaRPr sz="90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66431" y="1691640"/>
            <a:ext cx="1511808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Calibri" panose="020F0502020204030204"/>
              </a:rPr>
              <a:t>Yillik pensiya xarajati (konservativ)</a:t>
            </a:r>
            <a:endParaRPr sz="90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566160" y="2304288"/>
            <a:ext cx="530352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3320" y="2377440"/>
            <a:ext cx="5029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Ishga joylashgandan keyin — ikki tomonlama foyda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703320" y="2788920"/>
            <a:ext cx="5029200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2880360"/>
            <a:ext cx="2423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2C55E"/>
                </a:solidFill>
                <a:latin typeface="Calibri" panose="020F0502020204030204"/>
              </a:rPr>
              <a:t>Davlat uchun</a:t>
            </a:r>
            <a:endParaRPr sz="1100" b="1" i="0">
              <a:solidFill>
                <a:srgbClr val="22C55E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03320" y="3154680"/>
            <a:ext cx="2423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+5,76 mlrd so'm / yil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03320" y="3584448"/>
            <a:ext cx="2423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CA3AF"/>
                </a:solidFill>
                <a:latin typeface="Calibri" panose="020F0502020204030204"/>
              </a:rPr>
              <a:t>qo'shimcha daromad solig'i: 1 000 kishi × 4 mln so'm ish haqi × 12%</a:t>
            </a:r>
            <a:endParaRPr sz="100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09360" y="2880360"/>
            <a:ext cx="2423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Calibri" panose="020F0502020204030204"/>
              </a:rPr>
              <a:t>Inson uchun</a:t>
            </a:r>
            <a:endParaRPr sz="1100" b="1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09360" y="3154680"/>
            <a:ext cx="2423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Pensiya + ish haqi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09360" y="3584448"/>
            <a:ext cx="2423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CA3AF"/>
                </a:solidFill>
                <a:latin typeface="Calibri" panose="020F0502020204030204"/>
              </a:rPr>
              <a:t>pensiya saqlanadi, ustiga ish daromadi qo'shiladi — oila farovonligi oshadi</a:t>
            </a:r>
            <a:endParaRPr sz="100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17920" y="2926080"/>
            <a:ext cx="18288" cy="13258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Loyihani yakunlash uchun xarajatlar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MVP dan to'liq ishlaydigan platformagacha — 6 oylik smeta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539496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CA3AF"/>
                </a:solidFill>
                <a:latin typeface="Calibri" panose="020F0502020204030204"/>
              </a:rPr>
              <a:t>Xarajat turi</a:t>
            </a:r>
            <a:endParaRPr sz="1000" b="1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298448"/>
            <a:ext cx="2103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CA3AF"/>
                </a:solidFill>
                <a:latin typeface="Calibri" panose="020F0502020204030204"/>
              </a:rPr>
              <a:t>Hisob</a:t>
            </a:r>
            <a:endParaRPr sz="1000" b="1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1298448"/>
            <a:ext cx="1143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CA3AF"/>
                </a:solidFill>
                <a:latin typeface="Calibri" panose="020F0502020204030204"/>
              </a:rPr>
              <a:t>Summa</a:t>
            </a:r>
            <a:endParaRPr sz="1000" b="1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" y="1645920"/>
            <a:ext cx="5074920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737360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 panose="020F0502020204030204"/>
              </a:rPr>
              <a:t>Jamoa maoshi</a:t>
            </a:r>
            <a:endParaRPr sz="11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97480" y="1737360"/>
            <a:ext cx="20116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CA3AF"/>
                </a:solidFill>
                <a:latin typeface="Calibri" panose="020F0502020204030204"/>
              </a:rPr>
              <a:t>5 kishi × 6 oy × 8 mln so'm</a:t>
            </a:r>
            <a:endParaRPr sz="95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11430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240 mln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" y="2148840"/>
            <a:ext cx="5074920" cy="914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185415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 panose="020F0502020204030204"/>
              </a:rPr>
              <a:t>Ta'lim kontenti</a:t>
            </a:r>
            <a:endParaRPr sz="11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97480" y="2185415"/>
            <a:ext cx="20116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CA3AF"/>
                </a:solidFill>
                <a:latin typeface="Calibri" panose="020F0502020204030204"/>
              </a:rPr>
              <a:t>video darslar, surdotarjima</a:t>
            </a:r>
            <a:endParaRPr sz="95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0" y="2185415"/>
            <a:ext cx="11430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60 mln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" y="2596896"/>
            <a:ext cx="5074920" cy="914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633472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 panose="020F0502020204030204"/>
              </a:rPr>
              <a:t>AI xizmatlari</a:t>
            </a:r>
            <a:endParaRPr sz="11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97480" y="2633472"/>
            <a:ext cx="20116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CA3AF"/>
                </a:solidFill>
                <a:latin typeface="Calibri" panose="020F0502020204030204"/>
              </a:rPr>
              <a:t>nutqni tanish, ovoz, AI o'qituvchi</a:t>
            </a:r>
            <a:endParaRPr sz="95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0" y="2633472"/>
            <a:ext cx="11430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24 mln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1792" y="3044952"/>
            <a:ext cx="5074920" cy="914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81528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 panose="020F0502020204030204"/>
              </a:rPr>
              <a:t>Foydalanuvchilar bilan sinov</a:t>
            </a:r>
            <a:endParaRPr sz="11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97480" y="3081528"/>
            <a:ext cx="20116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CA3AF"/>
                </a:solidFill>
                <a:latin typeface="Calibri" panose="020F0502020204030204"/>
              </a:rPr>
              <a:t>50 kishi, 1 oy</a:t>
            </a:r>
            <a:endParaRPr sz="95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0" y="3081528"/>
            <a:ext cx="11430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15 mln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1792" y="3493008"/>
            <a:ext cx="5074920" cy="914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529584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 panose="020F0502020204030204"/>
              </a:rPr>
              <a:t>Huquqiy rasmiylashtirish</a:t>
            </a:r>
            <a:endParaRPr sz="11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97480" y="3529584"/>
            <a:ext cx="20116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CA3AF"/>
                </a:solidFill>
                <a:latin typeface="Calibri" panose="020F0502020204030204"/>
              </a:rPr>
              <a:t>ma'lumotlar himoyasi</a:t>
            </a:r>
            <a:endParaRPr sz="95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0" y="3529584"/>
            <a:ext cx="11430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13 mln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1792" y="3941063"/>
            <a:ext cx="5074920" cy="914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977639"/>
            <a:ext cx="21031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 panose="020F0502020204030204"/>
              </a:rPr>
              <a:t>Server va hosting</a:t>
            </a:r>
            <a:endParaRPr sz="11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97480" y="3977639"/>
            <a:ext cx="20116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CA3AF"/>
                </a:solidFill>
                <a:latin typeface="Calibri" panose="020F0502020204030204"/>
              </a:rPr>
              <a:t>6 oy</a:t>
            </a:r>
            <a:endParaRPr sz="95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0" y="3977639"/>
            <a:ext cx="11430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8 mln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35040" y="1207008"/>
            <a:ext cx="283464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1207008"/>
            <a:ext cx="2834640" cy="45720"/>
          </a:xfrm>
          <a:prstGeom prst="rect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1371600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Calibri" panose="020F0502020204030204"/>
              </a:rPr>
              <a:t>Jami xarajat</a:t>
            </a:r>
            <a:endParaRPr sz="110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17920" y="1645920"/>
            <a:ext cx="24688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 panose="020F0502020204030204"/>
              </a:rPr>
              <a:t>360 mln</a:t>
            </a:r>
            <a:r>
              <a:rPr sz="1300" b="0" i="0">
                <a:solidFill>
                  <a:srgbClr val="9CA3AF"/>
                </a:solidFill>
                <a:latin typeface="Calibri" panose="020F0502020204030204"/>
              </a:rPr>
              <a:t> so'm</a:t>
            </a:r>
            <a:endParaRPr sz="1300" b="0" i="0">
              <a:solidFill>
                <a:srgbClr val="9CA3AF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17920" y="2240280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Calibri" panose="020F0502020204030204"/>
              </a:rPr>
              <a:t>Muddat:  </a:t>
            </a:r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6 oy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217920" y="2651760"/>
            <a:ext cx="2468880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2743200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5534B"/>
                </a:solidFill>
                <a:latin typeface="Calibri" panose="020F0502020204030204"/>
              </a:rPr>
              <a:t>Natija</a:t>
            </a:r>
            <a:endParaRPr sz="1100" b="1" i="0">
              <a:solidFill>
                <a:srgbClr val="E5534B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0" y="3035808"/>
            <a:ext cx="24688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D1D5DB"/>
                </a:solidFill>
                <a:latin typeface="Calibri" panose="020F0502020204030204"/>
              </a:rPr>
              <a:t>• To'liq ishlaydigan platforma</a:t>
            </a:r>
            <a:endParaRPr sz="1100" b="0" i="0">
              <a:solidFill>
                <a:srgbClr val="D1D5DB"/>
              </a:solidFill>
              <a:latin typeface="Calibri" panose="020F0502020204030204"/>
            </a:endParaRP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D1D5DB"/>
                </a:solidFill>
                <a:latin typeface="Calibri" panose="020F0502020204030204"/>
              </a:rPr>
              <a:t>• 50 kishi bilan sinovdan o'tgan</a:t>
            </a:r>
            <a:endParaRPr sz="1100" b="0" i="0">
              <a:solidFill>
                <a:srgbClr val="D1D5DB"/>
              </a:solidFill>
              <a:latin typeface="Calibri" panose="020F0502020204030204"/>
            </a:endParaRP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D1D5DB"/>
                </a:solidFill>
                <a:latin typeface="Calibri" panose="020F0502020204030204"/>
              </a:rPr>
              <a:t>• Davlat pilotiga tayyor</a:t>
            </a:r>
            <a:endParaRPr sz="1100" b="0" i="0">
              <a:solidFill>
                <a:srgbClr val="D1D5D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Jamoa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kishilik jamoa: boshqaruv, dasturlash, sun'iy intellekt, dizayn va biznes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1572768" cy="2852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572768" cy="45720"/>
          </a:xfrm>
          <a:prstGeom prst="rect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rtrait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4168"/>
            <a:ext cx="1389888" cy="1853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235960"/>
            <a:ext cx="1481328" cy="435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Muhammadsiddiq </a:t>
            </a:r>
            <a:br>
              <a:rPr lang="en-US" sz="1300" b="1" i="0">
                <a:solidFill>
                  <a:srgbClr val="FFFFFF"/>
                </a:solidFill>
                <a:latin typeface="Calibri" panose="020F0502020204030204"/>
              </a:rPr>
            </a:b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Baxriddinov</a:t>
            </a:r>
            <a:endParaRPr lang="en-US"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671697"/>
            <a:ext cx="148132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5534B"/>
                </a:solidFill>
                <a:latin typeface="Calibri" panose="020F0502020204030204"/>
              </a:rPr>
              <a:t>CEO / Loyiha rahbari</a:t>
            </a:r>
            <a:endParaRPr sz="1050" b="0" i="0">
              <a:solidFill>
                <a:srgbClr val="E5534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67128" y="1207008"/>
            <a:ext cx="1572768" cy="2852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207008"/>
            <a:ext cx="1572768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ortrai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1339088"/>
            <a:ext cx="1389888" cy="1853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12848" y="3278505"/>
            <a:ext cx="1481328" cy="435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Muhammadali </a:t>
            </a:r>
            <a:br>
              <a:rPr lang="en-US" sz="1300" b="1" i="0">
                <a:solidFill>
                  <a:srgbClr val="FFFFFF"/>
                </a:solidFill>
                <a:latin typeface="Calibri" panose="020F0502020204030204"/>
              </a:rPr>
            </a:b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Ortiqov</a:t>
            </a:r>
            <a:endParaRPr lang="en-US"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12848" y="3671697"/>
            <a:ext cx="148132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3B82F6"/>
                </a:solidFill>
                <a:latin typeface="Calibri" panose="020F0502020204030204"/>
              </a:rPr>
              <a:t>CTO / Bosh dasturchi</a:t>
            </a:r>
            <a:endParaRPr sz="1050" b="0" i="0">
              <a:solidFill>
                <a:srgbClr val="3B82F6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77056" y="1207008"/>
            <a:ext cx="1572768" cy="2852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77056" y="1207008"/>
            <a:ext cx="1572768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ortrai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1344168"/>
            <a:ext cx="1389888" cy="1853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22776" y="3235960"/>
            <a:ext cx="1481328" cy="435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Gulinur</a:t>
            </a:r>
            <a:br>
              <a:rPr lang="en-US" sz="1300" b="1" i="0">
                <a:solidFill>
                  <a:srgbClr val="FFFFFF"/>
                </a:solidFill>
                <a:latin typeface="Calibri" panose="020F0502020204030204"/>
              </a:rPr>
            </a:b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Ne’matullayeva</a:t>
            </a:r>
            <a:endParaRPr lang="en-US"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22141" y="3671697"/>
            <a:ext cx="148132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59E0B"/>
                </a:solidFill>
                <a:latin typeface="Calibri" panose="020F0502020204030204"/>
              </a:rPr>
              <a:t>AI / ML muhandis</a:t>
            </a:r>
            <a:endParaRPr sz="1050" b="0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586983" y="1207008"/>
            <a:ext cx="1572768" cy="2852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3" y="1207008"/>
            <a:ext cx="1572768" cy="45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ortrait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3" y="1344168"/>
            <a:ext cx="1389888" cy="1853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32703" y="3235960"/>
            <a:ext cx="1481328" cy="435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O’g’iloy</a:t>
            </a:r>
            <a:br>
              <a:rPr lang="en-US" sz="1300" b="1" i="0">
                <a:solidFill>
                  <a:srgbClr val="FFFFFF"/>
                </a:solidFill>
                <a:latin typeface="Calibri" panose="020F0502020204030204"/>
              </a:rPr>
            </a:b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Nurillayeva</a:t>
            </a:r>
            <a:endParaRPr lang="en-US"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78423" y="3671697"/>
            <a:ext cx="148132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A855F7"/>
                </a:solidFill>
                <a:latin typeface="Calibri" panose="020F0502020204030204"/>
              </a:rPr>
              <a:t>Designer / UI-UX</a:t>
            </a:r>
            <a:endParaRPr sz="1050" b="0" i="0">
              <a:solidFill>
                <a:srgbClr val="A855F7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296912" y="1207008"/>
            <a:ext cx="1572768" cy="2852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207008"/>
            <a:ext cx="1572768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ortrait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1344168"/>
            <a:ext cx="1389888" cy="1853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41361" y="3235960"/>
            <a:ext cx="1481328" cy="435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Shuxratjon</a:t>
            </a:r>
            <a:br>
              <a:rPr lang="en-US" sz="1300" b="1" i="0">
                <a:solidFill>
                  <a:srgbClr val="FFFFFF"/>
                </a:solidFill>
                <a:latin typeface="Calibri" panose="020F0502020204030204"/>
              </a:rPr>
            </a:b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Shamshiddinov</a:t>
            </a:r>
            <a:endParaRPr lang="en-US"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42631" y="3671697"/>
            <a:ext cx="148132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2C55E"/>
                </a:solidFill>
                <a:latin typeface="Calibri" panose="020F0502020204030204"/>
              </a:rPr>
              <a:t>Biznes analitik</a:t>
            </a:r>
            <a:endParaRPr sz="1050" b="0" i="0">
              <a:solidFill>
                <a:srgbClr val="22C55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3435</Words>
  <Application>WPS Presentation</Application>
  <PresentationFormat>On-screen Show (16:9)</PresentationFormat>
  <Paragraphs>271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Consolas</vt:lpstr>
      <vt:lpstr>Consolas</vt:lpstr>
      <vt:lpstr>Consolas</vt:lpstr>
      <vt:lpstr>Calibri</vt:lpstr>
      <vt:lpstr>Calibri</vt:lpstr>
      <vt:lpstr>Calibri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Day Taqdimot Shabloni — AI Hackathon</dc:title>
  <dc:creator>PptxGenJS</dc:creator>
  <dc:subject>PptxGenJS Presentation</dc:subject>
  <cp:lastModifiedBy>Бахромжон Атабаев</cp:lastModifiedBy>
  <cp:revision>5</cp:revision>
  <dcterms:created xsi:type="dcterms:W3CDTF">2026-03-30T19:38:00Z</dcterms:created>
  <dcterms:modified xsi:type="dcterms:W3CDTF">2026-09-26T12:47:08Z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4E9313175F0D445587E8C01FE17F68E1_12</vt:lpwstr>
  </property>
  <property fmtid="{D5CDD505-2E9C-101B-9397-08002B2CF9AE}" pid="3" name="KSOProductBuildVer">
    <vt:lpwstr>1033-12.1.0.28485</vt:lpwstr>
  </property>
</Properties>
</file>